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2135" y="-886460"/>
            <a:ext cx="2834640" cy="2834640"/>
          </a:xfrm>
          <a:prstGeom prst="ellipse">
            <a:avLst/>
          </a:prstGeom>
          <a:solidFill>
            <a:srgbClr val="E4007F"/>
          </a:solidFill>
        </p:spPr>
      </p:sp>
      <p:sp>
        <p:nvSpPr>
          <p:cNvPr id="3" name="Shape 1"/>
          <p:cNvSpPr/>
          <p:nvPr/>
        </p:nvSpPr>
        <p:spPr>
          <a:xfrm>
            <a:off x="10972800" y="1417320"/>
            <a:ext cx="1234440" cy="1234440"/>
          </a:xfrm>
          <a:prstGeom prst="ellipse">
            <a:avLst/>
          </a:prstGeom>
          <a:solidFill>
            <a:srgbClr val="FFB020"/>
          </a:solidFill>
        </p:spPr>
      </p:sp>
      <p:sp>
        <p:nvSpPr>
          <p:cNvPr id="4" name="Shape 2"/>
          <p:cNvSpPr/>
          <p:nvPr/>
        </p:nvSpPr>
        <p:spPr>
          <a:xfrm rot="720000">
            <a:off x="8869680" y="2240280"/>
            <a:ext cx="1234440" cy="1097280"/>
          </a:xfrm>
          <a:prstGeom prst="roundRect">
            <a:avLst>
              <a:gd name="adj" fmla="val 25000"/>
            </a:avLst>
          </a:prstGeom>
          <a:solidFill>
            <a:srgbClr val="00C2D1"/>
          </a:solidFill>
        </p:spPr>
      </p:sp>
      <p:sp>
        <p:nvSpPr>
          <p:cNvPr id="5" name="Shape 3"/>
          <p:cNvSpPr/>
          <p:nvPr/>
        </p:nvSpPr>
        <p:spPr>
          <a:xfrm>
            <a:off x="11887200" y="4023360"/>
            <a:ext cx="640080" cy="640080"/>
          </a:xfrm>
          <a:prstGeom prst="ellipse">
            <a:avLst/>
          </a:prstGeom>
          <a:solidFill>
            <a:srgbClr val="00C2D1"/>
          </a:solidFill>
        </p:spPr>
      </p:sp>
      <p:sp>
        <p:nvSpPr>
          <p:cNvPr id="6" name="Shape 4"/>
          <p:cNvSpPr/>
          <p:nvPr/>
        </p:nvSpPr>
        <p:spPr>
          <a:xfrm>
            <a:off x="7315200" y="5440680"/>
            <a:ext cx="777240" cy="777240"/>
          </a:xfrm>
          <a:prstGeom prst="ellipse">
            <a:avLst/>
          </a:prstGeom>
          <a:solidFill>
            <a:srgbClr val="7C5CFC"/>
          </a:solidFill>
        </p:spPr>
      </p:sp>
      <p:sp>
        <p:nvSpPr>
          <p:cNvPr id="7" name="Shape 5"/>
          <p:cNvSpPr/>
          <p:nvPr/>
        </p:nvSpPr>
        <p:spPr>
          <a:xfrm rot="1920000">
            <a:off x="10730230" y="5471795"/>
            <a:ext cx="1317625" cy="1317625"/>
          </a:xfrm>
          <a:prstGeom prst="roundRect">
            <a:avLst>
              <a:gd name="adj" fmla="val 22727"/>
            </a:avLst>
          </a:prstGeom>
          <a:solidFill>
            <a:srgbClr val="E4007F"/>
          </a:solidFill>
        </p:spPr>
      </p:sp>
      <p:pic>
        <p:nvPicPr>
          <p:cNvPr id="8" name="Image 0" descr="logo_lockup@3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847088" cy="49377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2286000"/>
            <a:ext cx="2148840" cy="475488"/>
          </a:xfrm>
          <a:prstGeom prst="roundRect">
            <a:avLst>
              <a:gd name="adj" fmla="val 50000"/>
            </a:avLst>
          </a:prstGeom>
          <a:solidFill>
            <a:srgbClr val="FCE4F1"/>
          </a:solidFill>
        </p:spPr>
      </p:sp>
      <p:sp>
        <p:nvSpPr>
          <p:cNvPr id="10" name="Text 7"/>
          <p:cNvSpPr/>
          <p:nvPr/>
        </p:nvSpPr>
        <p:spPr>
          <a:xfrm>
            <a:off x="685800" y="2286000"/>
            <a:ext cx="21488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1006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年 7 月 · 月度汇报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8368" y="2971800"/>
            <a:ext cx="85953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7月上市重点车型</a:t>
            </a:r>
            <a:endParaRPr lang="en-US" sz="4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及</a:t>
            </a:r>
            <a:r>
              <a:rPr lang="en-US" sz="46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智驾版本迭代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8046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重点新车速览 · 智驾方案与硬件盘点 · 华为乾崑 ADS 5 版本升级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60350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汇报部门  </a:t>
            </a:r>
            <a:r>
              <a:rPr lang="en-US" sz="14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功能方案设计部 · FO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3" name="Text 1"/>
          <p:cNvSpPr/>
          <p:nvPr/>
        </p:nvSpPr>
        <p:spPr>
          <a:xfrm>
            <a:off x="868680" y="457200"/>
            <a:ext cx="7315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上市重点车型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189355"/>
            <a:ext cx="10515600" cy="6940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7月 </a:t>
            </a:r>
            <a:r>
              <a:rPr lang="en-US" sz="14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款重点智驾新车</a:t>
            </a:r>
            <a:r>
              <a:rPr lang="en-US" sz="14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预售 / 上市，价格 </a:t>
            </a:r>
            <a:r>
              <a:rPr lang="en-US" sz="14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9.99–30.99 万</a:t>
            </a:r>
            <a:r>
              <a:rPr lang="en-US" sz="14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r>
              <a:rPr lang="en-US" sz="14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华为乾崑 ADS 5</a:t>
            </a:r>
            <a:r>
              <a:rPr lang="en-US" sz="14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 成主力方案（4 款搭载），激光雷达全面普及；“</a:t>
            </a:r>
            <a:r>
              <a:rPr lang="en-US" sz="14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智驾兜底 / 泊车事故包赔”</a:t>
            </a:r>
            <a:r>
              <a:rPr lang="en-US" sz="14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成为共性卖点；大算力下放，最高 1500 TOPS（MONA L03）。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975485"/>
          <a:ext cx="10908665" cy="4297680"/>
        </p:xfrm>
        <a:graphic>
          <a:graphicData uri="http://schemas.openxmlformats.org/drawingml/2006/table">
            <a:tbl>
              <a:tblPr/>
              <a:tblGrid>
                <a:gridCol w="2148840"/>
                <a:gridCol w="1325880"/>
                <a:gridCol w="1965960"/>
                <a:gridCol w="1737360"/>
                <a:gridCol w="3730625"/>
              </a:tblGrid>
              <a:tr h="35941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车型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售价区间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智驾系统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核心智驾硬件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核心卖点 / 首发亮点</a:t>
                      </a:r>
                      <a:endParaRPr 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2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岚图 追光S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30.99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华为乾崑 ADS 5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4L5R11V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（4激光雷达）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四激光雷达方案；城区 NCA 99% 道路覆盖；CAS 5.0 全维防碰撞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坦克 300L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25.98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Coffee Pilot 3.0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1L3R11V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（200 TOPS·顶置激光）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越野首搭顶置激光雷达；车位到车位全链路；智能全地形 + 远红外夜视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北京越野 泰钽700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29.98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华为乾崑 ADS 5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2L5R11V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（896线+DTOF）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硬派越野首搭 ADS 5；全场景越野 NOA + 卫星通信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小鹏 MONA L03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14.38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图灵 AI 智驾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纯视觉 · 11V12U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（双图灵芯片·1500TOPS）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行业首次 1500 TOPS 下放 15 万级；AES 紧急转向避让 + 爆胎稳行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东风奕派 M8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16.98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华为乾崑 ADS 5 Pro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1L3R11V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（27件套）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东风首搭华为乾崑六件套；高速/城区/园区全链路 NCA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广汽传祺 向往S7 PHEV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12.98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ADiGO GSD（星灵智行）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1L3R11V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（新一代192线）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192线激光雷达；城市 NDA 领航；智能泊车事故兜底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一汽 悦意08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9.99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华为乾崑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1L3R11V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终身智能泊车事故维修保障；高速 NOA + 记忆泊车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212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奇瑞 风云A9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1A1A2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11.59 万起</a:t>
                      </a:r>
                      <a:endParaRPr lang="en-US" sz="1100" b="1" dirty="0">
                        <a:solidFill>
                          <a:srgbClr val="1A1A2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>
                        <a:buClrTx/>
                        <a:buSzTx/>
                        <a:buFontTx/>
                        <a:buNone/>
                      </a:pPr>
                      <a:r>
                        <a:rPr lang="en-US" sz="1100" b="1" dirty="0">
                          <a:solidFill>
                            <a:srgbClr val="B1006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猎鹰智驾（自研）</a:t>
                      </a:r>
                      <a:endParaRPr lang="en-US" sz="1100" b="1" dirty="0">
                        <a:solidFill>
                          <a:srgbClr val="B10063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1L3R11V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（MAX激光版）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A3A4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智驾兜底最高赔 500 万；城市/高速 NOA；300+ 泊车场景</a:t>
                      </a:r>
                      <a:endParaRPr lang="en-US" sz="1100" dirty="0">
                        <a:solidFill>
                          <a:srgbClr val="3A3A4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37376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信息整理自公开资料及内部速递，最终配置以车企官方发布为准。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46304" cy="457200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3" name="Text 1"/>
          <p:cNvSpPr/>
          <p:nvPr/>
        </p:nvSpPr>
        <p:spPr>
          <a:xfrm>
            <a:off x="868680" y="457200"/>
            <a:ext cx="100584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上市重点版本 </a:t>
            </a:r>
            <a:r>
              <a:rPr lang="en-US" sz="30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华为乾崑智驾 ADS 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115568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首版本即将推送 </a:t>
            </a:r>
            <a:r>
              <a:rPr lang="en-US" sz="1400" dirty="0">
                <a:solidFill>
                  <a:srgbClr val="8A8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· 软件版本 ADS Max V5.0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783080" cy="1051560"/>
          </a:xfrm>
          <a:prstGeom prst="roundRect">
            <a:avLst>
              <a:gd name="adj" fmla="val 12174"/>
            </a:avLst>
          </a:prstGeom>
          <a:solidFill>
            <a:srgbClr val="F5F6F8"/>
          </a:solidFill>
        </p:spPr>
      </p:sp>
      <p:sp>
        <p:nvSpPr>
          <p:cNvPr id="6" name="Text 4"/>
          <p:cNvSpPr/>
          <p:nvPr/>
        </p:nvSpPr>
        <p:spPr>
          <a:xfrm>
            <a:off x="640080" y="1783080"/>
            <a:ext cx="1783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30%↑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出行效率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06040" y="1691640"/>
            <a:ext cx="1783080" cy="1051560"/>
          </a:xfrm>
          <a:prstGeom prst="roundRect">
            <a:avLst>
              <a:gd name="adj" fmla="val 12174"/>
            </a:avLst>
          </a:prstGeom>
          <a:solidFill>
            <a:srgbClr val="F5F6F8"/>
          </a:solidFill>
        </p:spPr>
      </p:sp>
      <p:sp>
        <p:nvSpPr>
          <p:cNvPr id="9" name="Text 7"/>
          <p:cNvSpPr/>
          <p:nvPr/>
        </p:nvSpPr>
        <p:spPr>
          <a:xfrm>
            <a:off x="2606040" y="1783080"/>
            <a:ext cx="1783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30%↑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606040" y="233172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乘车舒适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1783080" cy="1051560"/>
          </a:xfrm>
          <a:prstGeom prst="roundRect">
            <a:avLst>
              <a:gd name="adj" fmla="val 12174"/>
            </a:avLst>
          </a:prstGeom>
          <a:solidFill>
            <a:srgbClr val="F5F6F8"/>
          </a:solidFill>
        </p:spPr>
      </p:sp>
      <p:sp>
        <p:nvSpPr>
          <p:cNvPr id="12" name="Text 10"/>
          <p:cNvSpPr/>
          <p:nvPr/>
        </p:nvSpPr>
        <p:spPr>
          <a:xfrm>
            <a:off x="4572000" y="1783080"/>
            <a:ext cx="178308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4007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50%↑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2331720"/>
            <a:ext cx="1783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536752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D9DCE1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300984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16" name="Text 14"/>
          <p:cNvSpPr/>
          <p:nvPr/>
        </p:nvSpPr>
        <p:spPr>
          <a:xfrm>
            <a:off x="1097280" y="3246120"/>
            <a:ext cx="47274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领航 · 更聪明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3666744"/>
            <a:ext cx="468172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NCA 覆盖环岛/乡道/无标线等非标路况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一键直达充电车位、可加园区内部途经点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新增城区 &amp; 园区漫游巡航 RCA（无导航亦可）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1344" y="3063240"/>
            <a:ext cx="536752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D9DCE1">
                <a:alpha val="5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3300984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20" name="Text 18"/>
          <p:cNvSpPr/>
          <p:nvPr/>
        </p:nvSpPr>
        <p:spPr>
          <a:xfrm>
            <a:off x="6638544" y="3246120"/>
            <a:ext cx="47274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泊车 · 更省心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38544" y="3666744"/>
            <a:ext cx="468172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新增即插即充服务，无需扫码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极限车位（断头路/极窄）泊车能力增强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新增守位泊车，降低车位被占风险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818888"/>
            <a:ext cx="536752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D9DCE1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6112" y="5056632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24" name="Text 22"/>
          <p:cNvSpPr/>
          <p:nvPr/>
        </p:nvSpPr>
        <p:spPr>
          <a:xfrm>
            <a:off x="1097280" y="5001768"/>
            <a:ext cx="47274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主动安全 · 更领先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97280" y="5422392"/>
            <a:ext cx="468172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新增自动防追尾辅助（0–70km/h 主动加速避让）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NCA / LCC 状态下生效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领航防御性驾驶增强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4818888"/>
            <a:ext cx="5367528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D9DCE1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7376" y="5056632"/>
            <a:ext cx="109728" cy="292608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28" name="Text 26"/>
          <p:cNvSpPr/>
          <p:nvPr/>
        </p:nvSpPr>
        <p:spPr>
          <a:xfrm>
            <a:off x="6638544" y="5001768"/>
            <a:ext cx="47274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交互 · 更清晰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638544" y="5422392"/>
            <a:ext cx="4681728" cy="89611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泊车轨迹规划更快、泊入更高效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地图信息焕新，新增电梯口/车位分区</a:t>
            </a:r>
            <a:endParaRPr lang="en-US" sz="10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实时环境渲染新增右转专用视角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" y="6455664"/>
            <a:ext cx="10881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F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升级功能及推送时间以各车企官方信息为准。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-822960"/>
            <a:ext cx="2560320" cy="2560320"/>
          </a:xfrm>
          <a:prstGeom prst="ellipse">
            <a:avLst/>
          </a:prstGeom>
          <a:solidFill>
            <a:srgbClr val="E4007F"/>
          </a:solidFill>
        </p:spPr>
      </p:sp>
      <p:sp>
        <p:nvSpPr>
          <p:cNvPr id="3" name="Shape 1"/>
          <p:cNvSpPr/>
          <p:nvPr/>
        </p:nvSpPr>
        <p:spPr>
          <a:xfrm>
            <a:off x="3038475" y="2291080"/>
            <a:ext cx="777240" cy="777240"/>
          </a:xfrm>
          <a:prstGeom prst="ellipse">
            <a:avLst/>
          </a:prstGeom>
          <a:solidFill>
            <a:srgbClr val="E4007F">
              <a:alpha val="6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3108960" y="2697480"/>
            <a:ext cx="5943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A1A2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谢谢观看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5394960" y="3886200"/>
            <a:ext cx="1399032" cy="73152"/>
          </a:xfrm>
          <a:prstGeom prst="roundRect">
            <a:avLst>
              <a:gd name="adj" fmla="val 50000"/>
            </a:avLst>
          </a:prstGeom>
          <a:solidFill>
            <a:srgbClr val="E4007F"/>
          </a:solidFill>
        </p:spPr>
      </p:sp>
      <p:sp>
        <p:nvSpPr>
          <p:cNvPr id="6" name="Text 4"/>
          <p:cNvSpPr/>
          <p:nvPr/>
        </p:nvSpPr>
        <p:spPr>
          <a:xfrm>
            <a:off x="3108960" y="416052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A3A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智驾新车速览 · 版本迭代持续跟踪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WPS 演示</Application>
  <PresentationFormat>On-screen Show (16:9)</PresentationFormat>
  <Paragraphs>159</Paragraphs>
  <Slides>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Yanci</cp:lastModifiedBy>
  <cp:revision>5</cp:revision>
  <dcterms:created xsi:type="dcterms:W3CDTF">2026-07-27T09:30:00Z</dcterms:created>
  <dcterms:modified xsi:type="dcterms:W3CDTF">2026-07-28T06:06:56Z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2C8B4E1B0C0649148D2AB5783BC8E987_12</vt:lpwstr>
  </property>
</Properties>
</file>